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Brad Wicklund 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Brad Wicklund 2025</a:t>
            </a:r>
          </a:p>
        </p:txBody>
      </p:sp>
      <p:sp>
        <p:nvSpPr>
          <p:cNvPr id="172" name="Must-Pick Bombs and Hidden Gems in Outlaws of Thunder Junc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6" sz="10300"/>
            </a:lvl1pPr>
          </a:lstStyle>
          <a:p>
            <a:pPr/>
            <a:r>
              <a:t>Must-Pick Bombs and Hidden Gems in Outlaws of Thunder Junction</a:t>
            </a:r>
          </a:p>
        </p:txBody>
      </p:sp>
      <p:sp>
        <p:nvSpPr>
          <p:cNvPr id="173" name="A Magic: The Gathering Draft Analysi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Magic: The Gathering Draft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76" name="Data &amp; Metrics Overview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&amp; Metrics Overview</a:t>
            </a:r>
          </a:p>
          <a:p>
            <a:pPr/>
            <a:r>
              <a:t>Identifying “Must-Pick” Bombs</a:t>
            </a:r>
          </a:p>
          <a:p>
            <a:pPr/>
            <a:r>
              <a:t>Uncovering Hidden Gems</a:t>
            </a:r>
          </a:p>
          <a:p>
            <a:pPr/>
            <a:r>
              <a:t>Draft Strategy Takeaways</a:t>
            </a:r>
          </a:p>
          <a:p>
            <a:pPr/>
            <a:r>
              <a:t>Q&amp;A</a:t>
            </a:r>
          </a:p>
        </p:txBody>
      </p:sp>
      <p:pic>
        <p:nvPicPr>
          <p:cNvPr id="177" name="magic-the-gathering-magic-the-gathering-outlaws-of.jpg.png" descr="magic-the-gathering-magic-the-gathering-outlaws-of.jpg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1191" t="0" r="1191" b="0"/>
          <a:stretch>
            <a:fillRect/>
          </a:stretch>
        </p:blipFill>
        <p:spPr>
          <a:xfrm>
            <a:off x="12192000" y="1263848"/>
            <a:ext cx="10922001" cy="1118870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Data Metrics &amp; Overview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Data Metrics &amp; Overview</a:t>
            </a:r>
          </a:p>
        </p:txBody>
      </p:sp>
      <p:sp>
        <p:nvSpPr>
          <p:cNvPr id="181" name="Dataset from 17lands…"/>
          <p:cNvSpPr txBox="1"/>
          <p:nvPr>
            <p:ph type="body" sz="half" idx="1"/>
          </p:nvPr>
        </p:nvSpPr>
        <p:spPr>
          <a:xfrm>
            <a:off x="1206500" y="4248504"/>
            <a:ext cx="10155219" cy="8256012"/>
          </a:xfrm>
          <a:prstGeom prst="rect">
            <a:avLst/>
          </a:prstGeom>
        </p:spPr>
        <p:txBody>
          <a:bodyPr/>
          <a:lstStyle/>
          <a:p>
            <a:pPr/>
            <a:r>
              <a:t>Dataset from 17lands</a:t>
            </a:r>
          </a:p>
          <a:p>
            <a:pPr/>
            <a:r>
              <a:t>ATA (Average Taken At)</a:t>
            </a:r>
          </a:p>
          <a:p>
            <a:pPr/>
            <a:r>
              <a:t>GP WR (Games Played Win Rate)</a:t>
            </a:r>
          </a:p>
        </p:txBody>
      </p:sp>
      <p:pic>
        <p:nvPicPr>
          <p:cNvPr id="182" name="unofficial_magic_the_gathering_six_color_card_back_by_lordnyriox_dalfpib-pre.jpg" descr="unofficial_magic_the_gathering_six_color_card_back_by_lordnyriox_dalfpib-pre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0" b="2"/>
          <a:stretch>
            <a:fillRect/>
          </a:stretch>
        </p:blipFill>
        <p:spPr>
          <a:xfrm>
            <a:off x="14487855" y="2381051"/>
            <a:ext cx="6275071" cy="89677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31" y="0"/>
                </a:moveTo>
                <a:lnTo>
                  <a:pt x="531" y="79"/>
                </a:lnTo>
                <a:cubicBezTo>
                  <a:pt x="301" y="170"/>
                  <a:pt x="228" y="220"/>
                  <a:pt x="96" y="386"/>
                </a:cubicBezTo>
                <a:lnTo>
                  <a:pt x="0" y="506"/>
                </a:lnTo>
                <a:lnTo>
                  <a:pt x="0" y="10515"/>
                </a:lnTo>
                <a:lnTo>
                  <a:pt x="0" y="10800"/>
                </a:lnTo>
                <a:lnTo>
                  <a:pt x="0" y="11052"/>
                </a:lnTo>
                <a:cubicBezTo>
                  <a:pt x="1" y="17065"/>
                  <a:pt x="18" y="21037"/>
                  <a:pt x="42" y="21047"/>
                </a:cubicBezTo>
                <a:cubicBezTo>
                  <a:pt x="65" y="21057"/>
                  <a:pt x="98" y="21110"/>
                  <a:pt x="115" y="21163"/>
                </a:cubicBezTo>
                <a:cubicBezTo>
                  <a:pt x="154" y="21288"/>
                  <a:pt x="445" y="21493"/>
                  <a:pt x="624" y="21521"/>
                </a:cubicBezTo>
                <a:cubicBezTo>
                  <a:pt x="701" y="21532"/>
                  <a:pt x="775" y="21555"/>
                  <a:pt x="790" y="21571"/>
                </a:cubicBezTo>
                <a:cubicBezTo>
                  <a:pt x="805" y="21589"/>
                  <a:pt x="4907" y="21600"/>
                  <a:pt x="11208" y="21600"/>
                </a:cubicBezTo>
                <a:lnTo>
                  <a:pt x="20825" y="21600"/>
                </a:lnTo>
                <a:lnTo>
                  <a:pt x="21014" y="21530"/>
                </a:lnTo>
                <a:cubicBezTo>
                  <a:pt x="21256" y="21440"/>
                  <a:pt x="21404" y="21335"/>
                  <a:pt x="21513" y="21178"/>
                </a:cubicBezTo>
                <a:cubicBezTo>
                  <a:pt x="21595" y="21060"/>
                  <a:pt x="21600" y="20499"/>
                  <a:pt x="21600" y="11070"/>
                </a:cubicBezTo>
                <a:lnTo>
                  <a:pt x="21600" y="10527"/>
                </a:lnTo>
                <a:lnTo>
                  <a:pt x="21600" y="538"/>
                </a:lnTo>
                <a:lnTo>
                  <a:pt x="21502" y="420"/>
                </a:lnTo>
                <a:cubicBezTo>
                  <a:pt x="21353" y="237"/>
                  <a:pt x="21238" y="158"/>
                  <a:pt x="20995" y="76"/>
                </a:cubicBezTo>
                <a:lnTo>
                  <a:pt x="20772" y="0"/>
                </a:lnTo>
                <a:lnTo>
                  <a:pt x="11165" y="0"/>
                </a:lnTo>
                <a:lnTo>
                  <a:pt x="10386" y="0"/>
                </a:lnTo>
                <a:lnTo>
                  <a:pt x="731" y="0"/>
                </a:lnTo>
                <a:close/>
              </a:path>
            </a:pathLst>
          </a:cu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draft_timing_vs_winrate.png" descr="draft_timing_vs_winrate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4233707" y="659804"/>
            <a:ext cx="15916539" cy="1239639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inding Must-Pick Bomb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27" sz="6375"/>
            </a:lvl1pPr>
          </a:lstStyle>
          <a:p>
            <a:pPr/>
            <a:r>
              <a:t>Finding Must-Pick Bombs</a:t>
            </a:r>
          </a:p>
        </p:txBody>
      </p:sp>
      <p:sp>
        <p:nvSpPr>
          <p:cNvPr id="187" name="ATA ≤ 20th percentile…"/>
          <p:cNvSpPr txBox="1"/>
          <p:nvPr>
            <p:ph type="body" sz="quarter" idx="1"/>
          </p:nvPr>
        </p:nvSpPr>
        <p:spPr>
          <a:xfrm>
            <a:off x="1206500" y="4248504"/>
            <a:ext cx="9779000" cy="2317041"/>
          </a:xfrm>
          <a:prstGeom prst="rect">
            <a:avLst/>
          </a:prstGeom>
        </p:spPr>
        <p:txBody>
          <a:bodyPr/>
          <a:lstStyle/>
          <a:p>
            <a:pPr/>
            <a:r>
              <a:t>ATA ≤ 20th percentile</a:t>
            </a:r>
          </a:p>
          <a:p>
            <a:pPr/>
            <a:r>
              <a:t>GP WR ≥ 75th percentile</a:t>
            </a:r>
          </a:p>
        </p:txBody>
      </p:sp>
      <p:pic>
        <p:nvPicPr>
          <p:cNvPr id="188" name="Top 10 Cards: ATA vs. GP WR.png" descr="Top 10 Cards: ATA vs. GP WR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9883221" y="4395892"/>
            <a:ext cx="13351431" cy="7960935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Must-Pick Bombs: Top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26287">
              <a:defRPr spc="-134" sz="6715"/>
            </a:lvl1pPr>
          </a:lstStyle>
          <a:p>
            <a:pPr/>
            <a:r>
              <a:t>Must-Pick Bombs: Top 5</a:t>
            </a:r>
          </a:p>
        </p:txBody>
      </p:sp>
      <p:pic>
        <p:nvPicPr>
          <p:cNvPr id="191" name="Top 5 Must-Pick Bombs by GP WR (ATA ≤ 20th percentile).png" descr="Top 5 Must-Pick Bombs by GP WR (ATA ≤ 20th percentile)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501" t="0" r="501" b="0"/>
          <a:stretch>
            <a:fillRect/>
          </a:stretch>
        </p:blipFill>
        <p:spPr>
          <a:xfrm>
            <a:off x="12174140" y="4120795"/>
            <a:ext cx="11055106" cy="6682160"/>
          </a:xfrm>
          <a:prstGeom prst="rect">
            <a:avLst/>
          </a:prstGeom>
        </p:spPr>
      </p:pic>
      <p:grpSp>
        <p:nvGrpSpPr>
          <p:cNvPr id="197" name="Group"/>
          <p:cNvGrpSpPr/>
          <p:nvPr/>
        </p:nvGrpSpPr>
        <p:grpSpPr>
          <a:xfrm>
            <a:off x="1372774" y="3416522"/>
            <a:ext cx="9409007" cy="8580370"/>
            <a:chOff x="0" y="0"/>
            <a:chExt cx="9409005" cy="8580369"/>
          </a:xfrm>
        </p:grpSpPr>
        <p:pic>
          <p:nvPicPr>
            <p:cNvPr id="192" name="D8F5DD034ED3F4A270509C33E9D220DCE4E2C85C00E1B2CC04C705469A79B561.webp.avif" descr="D8F5DD034ED3F4A270509C33E9D220DCE4E2C85C00E1B2CC04C705469A79B561.webp.avi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16950" y="0"/>
              <a:ext cx="2975106" cy="41540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3" name="EAD86D5867A702B35A8BE10811ECA999E3177D2685159399695DA5895F476094.png" descr="EAD86D5867A702B35A8BE10811ECA999E3177D2685159399695DA5895F476094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2975106" cy="41540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4" name="0EC87F10798E6A6AB98C106232DB94B943D7ABE9FBCCF280908D8CEF264D7D24.png" descr="0EC87F10798E6A6AB98C106232DB94B943D7ABE9FBCCF280908D8CEF264D7D24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6433900" y="8839"/>
              <a:ext cx="2975106" cy="41540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5" name="FEF56129F33D4E73E02B71BAB88270BE77052E498C242A771581E79E24A272A1.webp.avif" descr="FEF56129F33D4E73E02B71BAB88270BE77052E498C242A771581E79E24A272A1.webp.avif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616102" y="4426274"/>
              <a:ext cx="2975107" cy="41540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6" name="C233B492585318FF9942629C5BFAE44E672497F95D90BB9F64E1E3557EE18D4D.webp.avif" descr="C233B492585318FF9942629C5BFAE44E672497F95D90BB9F64E1E3557EE18D4D.webp.avif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4817797" y="4426274"/>
              <a:ext cx="2975107" cy="41540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Uncovering Hidden Ge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53137">
              <a:defRPr spc="-129" sz="6460"/>
            </a:lvl1pPr>
          </a:lstStyle>
          <a:p>
            <a:pPr/>
            <a:r>
              <a:t>Uncovering Hidden Gems</a:t>
            </a:r>
          </a:p>
        </p:txBody>
      </p:sp>
      <p:sp>
        <p:nvSpPr>
          <p:cNvPr id="200" name="Pick Rate &lt; median…"/>
          <p:cNvSpPr txBox="1"/>
          <p:nvPr>
            <p:ph type="body" sz="quarter" idx="1"/>
          </p:nvPr>
        </p:nvSpPr>
        <p:spPr>
          <a:xfrm>
            <a:off x="1206500" y="4248504"/>
            <a:ext cx="9779000" cy="5232882"/>
          </a:xfrm>
          <a:prstGeom prst="rect">
            <a:avLst/>
          </a:prstGeom>
        </p:spPr>
        <p:txBody>
          <a:bodyPr/>
          <a:lstStyle/>
          <a:p>
            <a:pPr/>
            <a:r>
              <a:t>Pick Rate &lt; median</a:t>
            </a:r>
          </a:p>
          <a:p>
            <a:pPr/>
            <a:r>
              <a:t>ATA &lt; median</a:t>
            </a:r>
          </a:p>
          <a:p>
            <a:pPr/>
            <a:r>
              <a:t>GP WR &gt; median</a:t>
            </a:r>
          </a:p>
        </p:txBody>
      </p:sp>
      <p:pic>
        <p:nvPicPr>
          <p:cNvPr id="201" name="Top 10 Undervalued Picks: Low Pick Rate &amp; High Win Rate.png" descr="Top 10 Undervalued Picks: Low Pick Rate &amp; High Win Ra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61782" y="3547222"/>
            <a:ext cx="14083744" cy="84060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Draft Strategy Takeaway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53137">
              <a:defRPr spc="-129" sz="6460"/>
            </a:lvl1pPr>
          </a:lstStyle>
          <a:p>
            <a:pPr/>
            <a:r>
              <a:t>Draft Strategy Takeaways</a:t>
            </a:r>
          </a:p>
        </p:txBody>
      </p:sp>
      <p:sp>
        <p:nvSpPr>
          <p:cNvPr id="204" name="Grab the Bomb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Grab the Bombs</a:t>
            </a:r>
          </a:p>
          <a:p>
            <a:pPr/>
            <a:r>
              <a:t>Watch for Hidden Gems</a:t>
            </a:r>
          </a:p>
          <a:p>
            <a:pPr/>
            <a:r>
              <a:t>Balance your curve and removal</a:t>
            </a:r>
          </a:p>
        </p:txBody>
      </p:sp>
      <p:pic>
        <p:nvPicPr>
          <p:cNvPr id="205" name="magic-the-gathering-magic-the-gathering-outlaws-of.jpg.png" descr="magic-the-gathering-magic-the-gathering-outlaws-of.jpg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1191" t="0" r="1191" b="0"/>
          <a:stretch>
            <a:fillRect/>
          </a:stretch>
        </p:blipFill>
        <p:spPr>
          <a:xfrm>
            <a:off x="12192000" y="1263848"/>
            <a:ext cx="10922000" cy="1118870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4B8BAA"/>
            </a:gs>
            <a:gs pos="100000">
              <a:srgbClr val="000000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Q &amp; A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 &amp; 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