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1">
                  <a:lumOff val="13543"/>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09D00"/>
          </a:solidFill>
        </a:fill>
      </a:tcStyle>
    </a:firstCol>
    <a:lastRow>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Helvetica Neue Medium"/>
          <a:ea typeface="Helvetica Neue Medium"/>
          <a:cs typeface="Helvetica Neue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27002"/>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E3E5E8"/>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262727"/>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42424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498" y="11839048"/>
            <a:ext cx="21971003" cy="636979"/>
          </a:xfrm>
          <a:prstGeom prst="rect">
            <a:avLst/>
          </a:prstGeom>
        </p:spPr>
        <p:txBody>
          <a:bodyPr lIns="45719" tIns="45719" rIns="45719" bIns="45719" anchor="b"/>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6500" y="7196865"/>
            <a:ext cx="21971000"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12007748" y="13080999"/>
            <a:ext cx="368504"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Green, hilly landscape"/>
          <p:cNvSpPr/>
          <p:nvPr>
            <p:ph type="pic" idx="21"/>
          </p:nvPr>
        </p:nvSpPr>
        <p:spPr>
          <a:xfrm>
            <a:off x="-431800" y="-4038600"/>
            <a:ext cx="29464000" cy="18034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44688"/>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 </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3" name="Body Level One…"/>
          <p:cNvSpPr txBox="1"/>
          <p:nvPr>
            <p:ph type="body" sz="quarter" idx="1" hasCustomPrompt="1"/>
          </p:nvPr>
        </p:nvSpPr>
        <p:spPr>
          <a:xfrm>
            <a:off x="1206500" y="7060576"/>
            <a:ext cx="9779000" cy="5382403"/>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4" name="Moss-covered rocks"/>
          <p:cNvSpPr/>
          <p:nvPr>
            <p:ph type="pic" sz="half" idx="21"/>
          </p:nvPr>
        </p:nvSpPr>
        <p:spPr>
          <a:xfrm>
            <a:off x="12052303" y="1270000"/>
            <a:ext cx="11188406" cy="11209889"/>
          </a:xfrm>
          <a:prstGeom prst="rect">
            <a:avLst/>
          </a:prstGeom>
        </p:spPr>
        <p:txBody>
          <a:bodyPr lIns="91439" tIns="45719" rIns="91439" bIns="45719">
            <a:noAutofit/>
          </a:bodyPr>
          <a:lstStyle/>
          <a:p>
            <a:pP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1"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2"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3" name="Large rock formation under dark clouds with a dirt road in the foreground"/>
          <p:cNvSpPr/>
          <p:nvPr>
            <p:ph type="pic" idx="22"/>
          </p:nvPr>
        </p:nvSpPr>
        <p:spPr>
          <a:xfrm>
            <a:off x="6380200" y="1263848"/>
            <a:ext cx="22529801" cy="11193471"/>
          </a:xfrm>
          <a:prstGeom prst="rect">
            <a:avLst/>
          </a:prstGeom>
        </p:spPr>
        <p:txBody>
          <a:bodyPr lIns="91439" tIns="45719" rIns="91439" bIns="45719">
            <a:noAutofit/>
          </a:bodyPr>
          <a:lstStyle/>
          <a:p>
            <a:pP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7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8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7" name="Body Level One…"/>
          <p:cNvSpPr txBox="1"/>
          <p:nvPr>
            <p:ph type="body" idx="1" hasCustomPrompt="1"/>
          </p:nvPr>
        </p:nvSpPr>
        <p:spPr>
          <a:xfrm>
            <a:off x="1206500" y="935258"/>
            <a:ext cx="21971000" cy="7359063"/>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nchor="ct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lose-up of wild plants growing between rocks"/>
          <p:cNvSpPr/>
          <p:nvPr>
            <p:ph type="pic" sz="quarter" idx="21"/>
          </p:nvPr>
        </p:nvSpPr>
        <p:spPr>
          <a:xfrm>
            <a:off x="15430500" y="7085409"/>
            <a:ext cx="8128000" cy="5410201"/>
          </a:xfrm>
          <a:prstGeom prst="rect">
            <a:avLst/>
          </a:prstGeom>
        </p:spPr>
        <p:txBody>
          <a:bodyPr lIns="91439" tIns="45719" rIns="91439" bIns="45719">
            <a:noAutofit/>
          </a:bodyPr>
          <a:lstStyle/>
          <a:p>
            <a:pPr/>
          </a:p>
        </p:txBody>
      </p:sp>
      <p:sp>
        <p:nvSpPr>
          <p:cNvPr id="145" name="Large rock formation under dark clouds with a dirt road in the foreground"/>
          <p:cNvSpPr/>
          <p:nvPr>
            <p:ph type="pic" idx="22"/>
          </p:nvPr>
        </p:nvSpPr>
        <p:spPr>
          <a:xfrm>
            <a:off x="-2933700" y="1270000"/>
            <a:ext cx="22699133" cy="11277600"/>
          </a:xfrm>
          <a:prstGeom prst="rect">
            <a:avLst/>
          </a:prstGeom>
        </p:spPr>
        <p:txBody>
          <a:bodyPr lIns="91439" tIns="45719" rIns="91439" bIns="45719">
            <a:noAutofit/>
          </a:bodyPr>
          <a:lstStyle/>
          <a:p>
            <a:pPr/>
          </a:p>
        </p:txBody>
      </p:sp>
      <p:sp>
        <p:nvSpPr>
          <p:cNvPr id="146" name="Close-up of a wild plant growing between lava rocks"/>
          <p:cNvSpPr/>
          <p:nvPr>
            <p:ph type="pic" sz="quarter" idx="23"/>
          </p:nvPr>
        </p:nvSpPr>
        <p:spPr>
          <a:xfrm>
            <a:off x="15430500" y="1270000"/>
            <a:ext cx="8128000" cy="54102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waterfall surrounded by a green rocky landscape"/>
          <p:cNvSpPr/>
          <p:nvPr>
            <p:ph type="pic" idx="21"/>
          </p:nvPr>
        </p:nvSpPr>
        <p:spPr>
          <a:xfrm>
            <a:off x="-1511300" y="-3721100"/>
            <a:ext cx="28511500" cy="19030242"/>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Brad Wicklun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Brad Wicklund</a:t>
            </a:r>
          </a:p>
        </p:txBody>
      </p:sp>
      <p:sp>
        <p:nvSpPr>
          <p:cNvPr id="172" name="Segmenting Shopper Sessions"/>
          <p:cNvSpPr txBox="1"/>
          <p:nvPr>
            <p:ph type="ctrTitle"/>
          </p:nvPr>
        </p:nvSpPr>
        <p:spPr>
          <a:prstGeom prst="rect">
            <a:avLst/>
          </a:prstGeom>
        </p:spPr>
        <p:txBody>
          <a:bodyPr/>
          <a:lstStyle>
            <a:lvl1pPr>
              <a:defRPr spc="-170" sz="8500"/>
            </a:lvl1pPr>
          </a:lstStyle>
          <a:p>
            <a:pPr/>
            <a:r>
              <a:t>Segmenting Shopper Sessions</a:t>
            </a:r>
          </a:p>
        </p:txBody>
      </p:sp>
      <p:sp>
        <p:nvSpPr>
          <p:cNvPr id="173" name="A Clustering Approach to E-Commerce Behavior"/>
          <p:cNvSpPr txBox="1"/>
          <p:nvPr>
            <p:ph type="subTitle" sz="quarter" idx="1"/>
          </p:nvPr>
        </p:nvSpPr>
        <p:spPr>
          <a:prstGeom prst="rect">
            <a:avLst/>
          </a:prstGeom>
        </p:spPr>
        <p:txBody>
          <a:bodyPr/>
          <a:lstStyle/>
          <a:p>
            <a:pPr/>
            <a:r>
              <a:t>A Clustering Approach to E-Commerce Behavior</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Problem"/>
          <p:cNvSpPr txBox="1"/>
          <p:nvPr>
            <p:ph type="body" sz="half" idx="1"/>
          </p:nvPr>
        </p:nvSpPr>
        <p:spPr>
          <a:xfrm>
            <a:off x="1206500" y="3522143"/>
            <a:ext cx="21971000" cy="3874314"/>
          </a:xfrm>
          <a:prstGeom prst="rect">
            <a:avLst/>
          </a:prstGeom>
        </p:spPr>
        <p:txBody>
          <a:bodyPr/>
          <a:lstStyle/>
          <a:p>
            <a:pPr/>
            <a:r>
              <a:t>Problem</a:t>
            </a:r>
          </a:p>
        </p:txBody>
      </p:sp>
      <p:sp>
        <p:nvSpPr>
          <p:cNvPr id="176" name="Modern data science empowers retailers to turn customer data into predictive insights for smarter decisions in marketing and product development. Those who fail to leverage this data risk falling behind competitors."/>
          <p:cNvSpPr txBox="1"/>
          <p:nvPr/>
        </p:nvSpPr>
        <p:spPr>
          <a:xfrm>
            <a:off x="3434612" y="7699008"/>
            <a:ext cx="17514776" cy="27680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a:lstStyle>
          <a:p>
            <a:pPr/>
            <a:r>
              <a:t>Modern data science empowers retailers to turn customer data into predictive insights for smarter decisions in marketing and product development. Those who fail to leverage this data risk falling behind competitors.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5" grpId="1"/>
      <p:bldP build="whole" bldLvl="1" animBg="1" rev="0" advAuto="0" spid="176" grpId="2"/>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olution"/>
          <p:cNvSpPr txBox="1"/>
          <p:nvPr>
            <p:ph type="body" sz="half" idx="1"/>
          </p:nvPr>
        </p:nvSpPr>
        <p:spPr>
          <a:xfrm>
            <a:off x="1206500" y="3522143"/>
            <a:ext cx="21971000" cy="3874314"/>
          </a:xfrm>
          <a:prstGeom prst="rect">
            <a:avLst/>
          </a:prstGeom>
        </p:spPr>
        <p:txBody>
          <a:bodyPr/>
          <a:lstStyle/>
          <a:p>
            <a:pPr/>
            <a:r>
              <a:t>Solution</a:t>
            </a:r>
          </a:p>
        </p:txBody>
      </p:sp>
      <p:sp>
        <p:nvSpPr>
          <p:cNvPr id="179" name="We aim to segment online apparel shoppers using clickstream and product data to uncover distinct customer groups for targeted marketing."/>
          <p:cNvSpPr txBox="1"/>
          <p:nvPr/>
        </p:nvSpPr>
        <p:spPr>
          <a:xfrm>
            <a:off x="4494565" y="8025616"/>
            <a:ext cx="15394870" cy="21148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a:lstStyle>
          <a:p>
            <a:pPr/>
            <a:r>
              <a:t>We aim to segment online apparel shoppers using clickstream and product data to uncover distinct customer groups for targeted marketing.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8" grpId="1"/>
      <p:bldP build="whole" bldLvl="1" animBg="1" rev="0" advAuto="0" spid="179"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Dataset"/>
          <p:cNvSpPr txBox="1"/>
          <p:nvPr>
            <p:ph type="body" sz="half" idx="1"/>
          </p:nvPr>
        </p:nvSpPr>
        <p:spPr>
          <a:xfrm>
            <a:off x="1206500" y="3522143"/>
            <a:ext cx="21971000" cy="3874314"/>
          </a:xfrm>
          <a:prstGeom prst="rect">
            <a:avLst/>
          </a:prstGeom>
        </p:spPr>
        <p:txBody>
          <a:bodyPr/>
          <a:lstStyle/>
          <a:p>
            <a:pPr/>
            <a:r>
              <a:t>Dataset</a:t>
            </a:r>
          </a:p>
        </p:txBody>
      </p:sp>
      <p:sp>
        <p:nvSpPr>
          <p:cNvPr id="182" name="Dataset sourced from the UC Irvine Machine Learning Repository. This dataset comprises clickstream data pertaining to an online retailer based in Poland that specializes in maternity attire.…"/>
          <p:cNvSpPr txBox="1"/>
          <p:nvPr/>
        </p:nvSpPr>
        <p:spPr>
          <a:xfrm>
            <a:off x="3664451" y="7412768"/>
            <a:ext cx="17055098" cy="46460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r>
              <a:t>Dataset sourced from the UC Irvine Machine Learning Repository. This dataset comprises clickstream data pertaining to an online retailer based in Poland that specializes in maternity attire.</a:t>
            </a:r>
          </a:p>
          <a:p>
            <a:pPr algn="ctr"/>
            <a:r>
              <a:t>https://archive.ics.uci.edu/dataset/553/clickstream+data+for+online+shopping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1" grpId="1"/>
      <p:bldP build="whole" bldLvl="1" animBg="1" rev="0" advAuto="0" spid="182"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Data Wrangling"/>
          <p:cNvSpPr txBox="1"/>
          <p:nvPr>
            <p:ph type="body" sz="half" idx="1"/>
          </p:nvPr>
        </p:nvSpPr>
        <p:spPr>
          <a:prstGeom prst="rect">
            <a:avLst/>
          </a:prstGeom>
        </p:spPr>
        <p:txBody>
          <a:bodyPr/>
          <a:lstStyle/>
          <a:p>
            <a:pPr/>
            <a:r>
              <a:t>Data Wrangling</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6" name="Screenshot 2025-07-13 at 11.57.53 AM.png" descr="Screenshot 2025-07-13 at 11.57.53 AM.png"/>
          <p:cNvPicPr>
            <a:picLocks noChangeAspect="1"/>
          </p:cNvPicPr>
          <p:nvPr/>
        </p:nvPicPr>
        <p:blipFill>
          <a:blip r:embed="rId2">
            <a:extLst/>
          </a:blip>
          <a:stretch>
            <a:fillRect/>
          </a:stretch>
        </p:blipFill>
        <p:spPr>
          <a:xfrm>
            <a:off x="4252677" y="816629"/>
            <a:ext cx="15878646" cy="1208274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8" name="Screenshot 2025-07-13 at 11.59.55 AM.png" descr="Screenshot 2025-07-13 at 11.59.55 AM.png"/>
          <p:cNvPicPr>
            <a:picLocks noChangeAspect="1"/>
          </p:cNvPicPr>
          <p:nvPr>
            <p:ph type="pic" idx="21"/>
          </p:nvPr>
        </p:nvPicPr>
        <p:blipFill>
          <a:blip r:embed="rId2">
            <a:extLst/>
          </a:blip>
          <a:srcRect l="0" t="0" r="0" b="0"/>
          <a:stretch>
            <a:fillRect/>
          </a:stretch>
        </p:blipFill>
        <p:spPr>
          <a:xfrm>
            <a:off x="2079305" y="2584648"/>
            <a:ext cx="20225418" cy="8546871"/>
          </a:xfrm>
          <a:prstGeom prst="rect">
            <a:avLst/>
          </a:prstGeom>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Exploring the Data"/>
          <p:cNvSpPr txBox="1"/>
          <p:nvPr>
            <p:ph type="body" sz="half" idx="1"/>
          </p:nvPr>
        </p:nvSpPr>
        <p:spPr>
          <a:prstGeom prst="rect">
            <a:avLst/>
          </a:prstGeom>
        </p:spPr>
        <p:txBody>
          <a:bodyPr/>
          <a:lstStyle/>
          <a:p>
            <a:pPr/>
            <a:r>
              <a:t>Exploring the Data</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2" name="Screenshot 2025-07-13 at 1.00.03 PM.png" descr="Screenshot 2025-07-13 at 1.00.03 PM.png"/>
          <p:cNvPicPr>
            <a:picLocks noChangeAspect="1"/>
          </p:cNvPicPr>
          <p:nvPr>
            <p:ph type="pic" idx="21"/>
          </p:nvPr>
        </p:nvPicPr>
        <p:blipFill>
          <a:blip r:embed="rId2">
            <a:extLst/>
          </a:blip>
          <a:srcRect l="0" t="0" r="0" b="0"/>
          <a:stretch>
            <a:fillRect/>
          </a:stretch>
        </p:blipFill>
        <p:spPr>
          <a:xfrm>
            <a:off x="663497" y="1263650"/>
            <a:ext cx="23057222" cy="11188701"/>
          </a:xfrm>
          <a:prstGeom prst="rect">
            <a:avLst/>
          </a:prstGeom>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4" name="Screenshot 2025-07-13 at 1.00.14 PM.png" descr="Screenshot 2025-07-13 at 1.00.14 PM.png"/>
          <p:cNvPicPr>
            <a:picLocks noChangeAspect="1"/>
          </p:cNvPicPr>
          <p:nvPr>
            <p:ph type="pic" idx="21"/>
          </p:nvPr>
        </p:nvPicPr>
        <p:blipFill>
          <a:blip r:embed="rId2">
            <a:extLst/>
          </a:blip>
          <a:srcRect l="51" t="0" r="51" b="0"/>
          <a:stretch>
            <a:fillRect/>
          </a:stretch>
        </p:blipFill>
        <p:spPr>
          <a:xfrm>
            <a:off x="747315" y="1263650"/>
            <a:ext cx="22889336" cy="11188701"/>
          </a:xfrm>
          <a:prstGeom prst="rect">
            <a:avLst/>
          </a:prstGeom>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Screenshot 2025-07-13 at 12.59.49 PM.png" descr="Screenshot 2025-07-13 at 12.59.49 PM.png"/>
          <p:cNvPicPr>
            <a:picLocks noChangeAspect="1"/>
          </p:cNvPicPr>
          <p:nvPr>
            <p:ph type="pic" idx="21"/>
          </p:nvPr>
        </p:nvPicPr>
        <p:blipFill>
          <a:blip r:embed="rId2">
            <a:extLst/>
          </a:blip>
          <a:srcRect l="0" t="0" r="0" b="0"/>
          <a:stretch>
            <a:fillRect/>
          </a:stretch>
        </p:blipFill>
        <p:spPr>
          <a:xfrm>
            <a:off x="4421551" y="1263650"/>
            <a:ext cx="15541176" cy="11188701"/>
          </a:xfrm>
          <a:prstGeom prst="rect">
            <a:avLst/>
          </a:prstGeom>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Modeling"/>
          <p:cNvSpPr txBox="1"/>
          <p:nvPr>
            <p:ph type="body" sz="half" idx="1"/>
          </p:nvPr>
        </p:nvSpPr>
        <p:spPr>
          <a:prstGeom prst="rect">
            <a:avLst/>
          </a:prstGeom>
        </p:spPr>
        <p:txBody>
          <a:bodyPr/>
          <a:lstStyle/>
          <a:p>
            <a:pPr/>
            <a:r>
              <a:t>Modeling</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0" name="Screenshot 2025-07-13 at 12.45.34 PM.png" descr="Screenshot 2025-07-13 at 12.45.34 PM.png"/>
          <p:cNvPicPr>
            <a:picLocks noChangeAspect="1"/>
          </p:cNvPicPr>
          <p:nvPr>
            <p:ph type="pic" idx="21"/>
          </p:nvPr>
        </p:nvPicPr>
        <p:blipFill>
          <a:blip r:embed="rId2">
            <a:extLst/>
          </a:blip>
          <a:srcRect l="0" t="0" r="0" b="0"/>
          <a:stretch>
            <a:fillRect/>
          </a:stretch>
        </p:blipFill>
        <p:spPr>
          <a:xfrm>
            <a:off x="7312060" y="2175380"/>
            <a:ext cx="16409534" cy="10864632"/>
          </a:xfrm>
          <a:prstGeom prst="rect">
            <a:avLst/>
          </a:prstGeom>
        </p:spPr>
      </p:pic>
      <p:sp>
        <p:nvSpPr>
          <p:cNvPr id="201" name="K-Means"/>
          <p:cNvSpPr txBox="1"/>
          <p:nvPr>
            <p:ph type="title"/>
          </p:nvPr>
        </p:nvSpPr>
        <p:spPr>
          <a:xfrm>
            <a:off x="1206500" y="952500"/>
            <a:ext cx="21971000" cy="1433163"/>
          </a:xfrm>
          <a:prstGeom prst="rect">
            <a:avLst/>
          </a:prstGeom>
        </p:spPr>
        <p:txBody>
          <a:bodyPr anchor="t"/>
          <a:lstStyle/>
          <a:p>
            <a:pPr/>
            <a:r>
              <a:t>K-Means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3" name="Screenshot 2025-07-13 at 12.45.45 PM.png" descr="Screenshot 2025-07-13 at 12.45.45 PM.png"/>
          <p:cNvPicPr>
            <a:picLocks noChangeAspect="1"/>
          </p:cNvPicPr>
          <p:nvPr/>
        </p:nvPicPr>
        <p:blipFill>
          <a:blip r:embed="rId2">
            <a:extLst/>
          </a:blip>
          <a:stretch>
            <a:fillRect/>
          </a:stretch>
        </p:blipFill>
        <p:spPr>
          <a:xfrm>
            <a:off x="6891894" y="3430346"/>
            <a:ext cx="16689809" cy="9466215"/>
          </a:xfrm>
          <a:prstGeom prst="rect">
            <a:avLst/>
          </a:prstGeom>
          <a:ln w="12700">
            <a:miter lim="400000"/>
          </a:ln>
        </p:spPr>
      </p:pic>
      <p:sp>
        <p:nvSpPr>
          <p:cNvPr id="204" name="Hierarchical Clustering"/>
          <p:cNvSpPr txBox="1"/>
          <p:nvPr>
            <p:ph type="title"/>
          </p:nvPr>
        </p:nvSpPr>
        <p:spPr>
          <a:xfrm>
            <a:off x="1206500" y="952500"/>
            <a:ext cx="21971000" cy="1433163"/>
          </a:xfrm>
          <a:prstGeom prst="rect">
            <a:avLst/>
          </a:prstGeom>
        </p:spPr>
        <p:txBody>
          <a:bodyPr anchor="t"/>
          <a:lstStyle/>
          <a:p>
            <a:pPr/>
            <a:r>
              <a:t>Hierarchical Clustering</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6" name="Screenshot 2025-07-13 at 12.46.03 PM.png" descr="Screenshot 2025-07-13 at 12.46.03 PM.png"/>
          <p:cNvPicPr>
            <a:picLocks noChangeAspect="1"/>
          </p:cNvPicPr>
          <p:nvPr/>
        </p:nvPicPr>
        <p:blipFill>
          <a:blip r:embed="rId2">
            <a:extLst/>
          </a:blip>
          <a:stretch>
            <a:fillRect/>
          </a:stretch>
        </p:blipFill>
        <p:spPr>
          <a:xfrm>
            <a:off x="8304458" y="673232"/>
            <a:ext cx="15434162" cy="12369536"/>
          </a:xfrm>
          <a:prstGeom prst="rect">
            <a:avLst/>
          </a:prstGeom>
          <a:ln w="12700">
            <a:miter lim="400000"/>
          </a:ln>
        </p:spPr>
      </p:pic>
      <p:sp>
        <p:nvSpPr>
          <p:cNvPr id="207" name="DBSCAN"/>
          <p:cNvSpPr txBox="1"/>
          <p:nvPr>
            <p:ph type="title"/>
          </p:nvPr>
        </p:nvSpPr>
        <p:spPr>
          <a:xfrm>
            <a:off x="1206500" y="952500"/>
            <a:ext cx="21971000" cy="1433163"/>
          </a:xfrm>
          <a:prstGeom prst="rect">
            <a:avLst/>
          </a:prstGeom>
        </p:spPr>
        <p:txBody>
          <a:bodyPr anchor="t"/>
          <a:lstStyle/>
          <a:p>
            <a:pPr/>
            <a:r>
              <a:t>DBSCAN</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Conclusions and Next Steps"/>
          <p:cNvSpPr txBox="1"/>
          <p:nvPr>
            <p:ph type="title"/>
          </p:nvPr>
        </p:nvSpPr>
        <p:spPr>
          <a:prstGeom prst="rect">
            <a:avLst/>
          </a:prstGeom>
        </p:spPr>
        <p:txBody>
          <a:bodyPr/>
          <a:lstStyle/>
          <a:p>
            <a:pPr/>
            <a:r>
              <a:t>Conclusions and Next Steps</a:t>
            </a:r>
          </a:p>
        </p:txBody>
      </p:sp>
      <p:sp>
        <p:nvSpPr>
          <p:cNvPr id="210" name="None of the models tested provide cohesive enough clusters for future marketing purposes without further tuning.…"/>
          <p:cNvSpPr txBox="1"/>
          <p:nvPr>
            <p:ph type="body" idx="1"/>
          </p:nvPr>
        </p:nvSpPr>
        <p:spPr>
          <a:prstGeom prst="rect">
            <a:avLst/>
          </a:prstGeom>
        </p:spPr>
        <p:txBody>
          <a:bodyPr/>
          <a:lstStyle/>
          <a:p>
            <a:pPr/>
            <a:r>
              <a:t>None of the models tested provide cohesive enough clusters for future marketing purposes without further tuning.</a:t>
            </a:r>
          </a:p>
          <a:p>
            <a:pPr/>
            <a:r>
              <a:t>Further analysis on page placement in a different project could help to provide useful insights regarding driving sales of a particular item.</a:t>
            </a:r>
          </a:p>
          <a:p>
            <a:pPr/>
            <a:r>
              <a:t>Analysis of purchasing trends based on color could also be a beneficial exploration to influence future product development.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Q &amp; A"/>
          <p:cNvSpPr txBox="1"/>
          <p:nvPr>
            <p:ph type="body" sz="half" idx="1"/>
          </p:nvPr>
        </p:nvSpPr>
        <p:spPr>
          <a:prstGeom prst="rect">
            <a:avLst/>
          </a:prstGeom>
        </p:spPr>
        <p:txBody>
          <a:bodyPr/>
          <a:lstStyle/>
          <a:p>
            <a:pPr/>
            <a:r>
              <a:t>Q &amp; A</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